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Theme" Type="http://schemas.openxmlformats.org/officeDocument/2006/relationships/theme" Target="theme/theme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01 • PITCH DECK INVESTISSEUR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LOUEMOI — La PropTech de Référence en Afrique de l'Ouest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Location &amp; Vente de Logements, Terrains et Magasins • Mobile (Android/iOS) &amp; Web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Une plateforme tout-en-un : Vidéo 60s, Carte GPS interactive, Messagerie vocale &amp; Réservation en 1 clic.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Paiement Mobile Money 100 % automatisé via Jèko : Wave, Orange Money, MTN MoMo, Moov Money, Djamo.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Produit finalisé à 98 % et déjà déployé en production (234 tests automatisés validés).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Architecture haute performance taillée pour accueillir plus de 2 000 000 d'utilisateurs.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Mission : Louer ou acheter un bien immobilier en 5 minutes, sans arnaque ni déplacements inutiles.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98 %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Produit Finalisé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2M+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Capacité Utilisateurs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100 %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Mobile Money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02 • LE PROBLÈME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 Marché Immobilier Urbain Géant mais Désorganisé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Une asymétrie d'information coûteuse pour les clients, les bailleurs et les agents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Pour les Clients : semaines perdues en visites décevantes et frais de visite répétitifs.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Annonces fantômes &amp; Arnaques : groupes Facebook/WhatsApp saturés de biens déjà occupés.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Absence de localisation GPS précise et d'aperçu vidéo réel avant le déplacement.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Pour les Bailleurs : difficulté à trouver rapidement des locataires solvables ou des agents certifiés.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Pour les Agents : manque d'outils numériques professionnels pour exposer leurs biens et prouver leur fiabilité.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600 000+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Déficit logements CI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70 %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Visites physiques inutiles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0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Garantie sur réseaux sociaux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03 • LA SOLUTION LOUEMOI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 Écosystème Tripartite Connecté et Certifié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Trois expériences dédiées réunies dans une seule application Mobile &amp; Web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1. Espace Client : Recherche par Commune, Quartier, Budget, Carte GPS (rayon km), Vidéo 60s et Réservation gratuite.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2. Espace Bailleur : Tableau de bord statistique (vues, favoris, réservations), gestion des statuts et annuaire « Trouver un agent ».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3. Espace Agent Immobilier : Vitrine certifiée avec badge officiel, avis vérifiés et annuaire « Rechercher un propriétaire ».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Communication directe : Messagerie instantanée intégrant Texte, Photos, Vidéos et Messages Vocaux.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Confiance : Badge Membre Certifié et vérification administrative des profils professionnels.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 Rôles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Client • Bailleur • Agent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60 sec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Vidéo immersive par bien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 Clic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Réservation gratuite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04 • LE PRODUIT EN DÉTAIL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Une Expérience Conçue pour les Réalités du Terrain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Trois catégories d'actifs, deux types de transactions et une fraîcheur garantie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Couverture complète : Logements (studios, appartements, villas), Terrains et Magasins / Locaux commerciaux.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Location &amp; Vente + Badge « Biens Futurs » pour pré-commercialiser les projets en cours de construction.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Carte GPS Interactive : Calcul SQL Haversine en temps réel de la distance exacte autour de l'utilisateur.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Notes Vocales intégrées : Messagerie audio native adaptée aux usages quotidiens en Côte d'Ivoire.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Expiration automatique à 30 jours : Toute annonce non reconduite disparaît du fil public (zéro annonce obsolète).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30 Jours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Validité renouvelable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 Actifs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Logement • Terrain • Magasin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Web + App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Android • iOS • Navigateur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05 • OPPORTUNITÉ DE MARCHÉ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 Marché en Hyper-Croissance en Côte d'Ivoire &amp; UEMOA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Urbanisation rapide, explosion démographique et adoption massive du Mobile Money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Grand Abidjan : Plus de 6,3 millions d'habitants (+3,8 %/an) et +50 000 nouveaux besoins de logements par an.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Équipement numérique : Taux de pénétration mobile &gt; 110 % et adoption du Mobile Money &gt; 75 % des adultes.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TAM (Afrique de l'Ouest UEMOA) : 140 millions d'habitants • 15M+ de ménages et 500 000 acteurs de l'offre.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SAM (Côte d'Ivoire — Abidjan &amp; Grandes Villes) : 2,5 millions de chercheurs actifs/an et 120 000 bailleurs/agents.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SOM (Cible LoueMoi à 3 ans) : 2 000 000 d'utilisateurs inscrits et 54 000 abonnés actifs mensuels.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140 M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Habitants zone UEMOA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2,5 M/an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Chercheurs actifs en CI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2,0 M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Utilisateurs cibles à 3 ans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06 • MODÈLE ÉCONOMIQUE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 Paywall Réciproque à 100 % de Marge Brute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Micro-abonnements mensuels Mobile Money accessibles à tous et impossibles à contourner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Gratuité d'appel : Téléchargement, recherche, vidéos, publication d'annonces et réservation sont 100 % gratuits.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Pass Pro (Agents &amp; Bailleurs — 3 000 FCFA/mois) : Rend leurs annonces contactables gratuitement par tous les clients.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Le Pass Pro débloque aussi le numéro/chat des clients ayant réservé leurs biens + Annuaires Pro + Badge Certifié.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Pass Client (1 000 FCFA/mois) : Permet de contacter directement les propriétaires non abonnés + Badge Certifié.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Zéro frais monétiques pour LoueMoi : Les 1,5 % de frais Jèko sont payés au checkout (100 % de marge nette).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3 000 FCFA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Pass Pro / mois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1 000 FCFA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Pass Client / mois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100 %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Marge brute encaissée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07 • AVANTAGE CONCURRENTIEL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Pourquoi LoueMoi Surclasse les Solutions Existantes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Une supériorité technologique et fonctionnelle nette face aux canaux informels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Face à Facebook / WhatsApp : Filtres multicritères, carte GPS, vidéos dédiées et suppression auto des biens occupés.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Face aux sites web classiques : Application mobile fluide, notes vocales intégrées et paiement Mobile Money en 10s.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Face aux démarcheurs informels : Certification des agents, notation par étoiles et avis clients vérifiés.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Protection anti-contournement : Masquage serveur des numéros et interdiction des chiffres dans les descriptions.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Effet réseau croisé : Les bailleurs recrutent leurs agents sur LoueMoi, et les agents prospectent les bailleurs.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10 sec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Souscription Mobile Money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0 Fuite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Verrouillage serveur des contacts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360°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Vidéo + GPS + Audio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08 • ARCHITECTURE &amp; CYBERSÉCURITÉ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Une Technologie Blindée pour 2+ Millions d'Utilisateurs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Performance industrielle et sécurité de niveau Fintech (Note D.I.C. : 9,4 / 10)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Zéro requête SQL N+1 : Pré-calcul SQL via Exists/OuterRef divisant par 70 la charge base de données sur l'Accueil.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10 Index SQL Composites B-Tree + Pré-filtre géographique Bounding Box pour des réponses API &lt; 50 ms.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Connexions PostgreSQL persistantes (CONN_MAX_AGE), cache Redis distribué et notifications Push FCM asynchrones.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Sécurité Fintech : Webhooks Jèko signés HMAC-SHA256, double vérification serveur et verrouillage SQL atomique.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Confidentialité : Pièces jointes de messagerie signées cryptographiquement (TimestampSigner) et anti-brute-force OTP.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9,4 / 10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Score Sécurité D.I.C.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234 Tests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Suite automatisée 100 % OK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÷ 70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Réduction requêtes SQL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09 • STRATÉGIE GO-TO-MARKET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Plan de Conquête Commerciale en 3 Phases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Construire l'offre à Abidjan, accélérer sur TikTok/Meta, puis dupliquer en UEMOA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Phase 1 (Mois 1-3) — Supply-First à Abidjan : Onboarding terrain de 500 agents et bailleurs (Cocody, Marcory, Yopougon).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Constitution d'un catalogue initial de 1 500 annonces géolocalisées avec vidéos de 60 secondes.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Phase 2 (Mois 3-12) — Acquisition Virale : Diffusion des vidéos d'annonces sur TikTok, Reels et Facebook (CAC &lt; 150 FCFA).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Boucle virale WhatsApp : Partage direct des annonces et redirection paiement via l'Application Web LoueMoi.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Phase 3 (Années 2-3) — Expansion : Bouaké, San-Pédro, Yamoussoukro puis Dakar (Sénégal), Cotonou (Bénin) et Lomé.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&lt; 150 FCFA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Coût d'acquisition (CAC)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1 500+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Annonces dès le T1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4 Pays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Déploiement UEMOA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10 • PRÉVISIONS FINANCIÈRES (3 ANS)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Trajectoire Financière &amp; Rentabilité Rapide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Point mort atteint dès 2 000 abonnés actifs (3,6 M FCFA/mois) au 3e mois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Année 1 (Lancement CI — 150k utilisateurs) : CA de 73,2 M FCFA • EBITDA de +29,4 M FCFA (Marge : 40,1 %).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Année 2 (Expansion Nationale — 650k utilisateurs) : CA de 342,0 M FCFA • EBITDA de +195,0 M FCFA (Marge : 57,0 %).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Année 3 (Échelle 2M+ &amp; UEMOA — 2M d'utilisateurs) : CA de 1 032,0 M FCFA • EBITDA de +687,0 M FCFA (Marge : 66,5 %).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Hypothèse prudente : Taux de conversion payant limité à 2,7 % de la base d'utilisateurs inscrits.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Encaissement 100 % d'avance par Mobile Money : Trésorerie positive immédiate sans besoin en fonds de roulement.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73,2 M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CA Année 1 (FCFA)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342 M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CA Année 2 (FCFA)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1,03 Md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CA Année 3 (FCFA)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11 • OPÉRATIONS &amp; FEUILLE DE ROUTE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Une Exécution Agile Automatisée à 90 %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Une structure opérationnelle légère pilotée depuis le Dashboard Administrateur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Automatisation serveur : Paiements Jèko, activation des badges, SMS OTP Ikoddi, relances J-5 et expiration J+30.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Pôle Direction &amp; Produit : Pilotage stratégique, partenariats institutionnels et certification des agents.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Pôle Technique &amp; Cloud : Supervision haute disponibilité (PostgreSQL, Redis, CDN) et évolutions continues.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Pôle Commercial &amp; Modération : Ambassadeurs terrain auprès des agences/bailleurs et contrôle qualité vidéo.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Roadmap T1-T4 : Lancement Abidjan (T1) -&gt; Google Play &amp; App Store + CDN (T2) -&gt; Villes intérieur (T3-T4).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90 %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Processus automatisés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24h / 7j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Activation abonnements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J - 5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Relance auto renouvellement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bar -->
      <p:sp>
        <p:nvSpPr>
          <p:cNvPr id="2" name="TopBar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4F46E5"/>
          </a:solidFill>
        </p:spPr>
      </p:sp>
      <!-- Header Tag & Title -->
      <p:sp>
        <p:nvSpPr>
          <p:cNvPr id="3" name="TitleBox"/>
          <p:cNvSpPr/>
          <p:nvPr/>
        </p:nvSpPr>
        <p:spPr>
          <a:xfrm>
            <a:off x="500000" y="260000"/>
            <a:ext cx="11192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4F46E5"/>
                </a:solidFill>
                <a:latin typeface="Segoe UI"/>
              </a:rPr>
              <a:t>SLIDE 12 • CONCLUSION &amp; INVESTISSEMENT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2400" b="1" dirty="0">
                <a:solidFill>
                  <a:srgbClr val="0F172A"/>
                </a:solidFill>
                <a:latin typeface="Segoe UI"/>
              </a:rPr>
              <a:t>Bâtissons le Leader PropTech d'Afrique de l'Ouest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350" dirty="0">
                <a:solidFill>
                  <a:srgbClr val="475569"/>
                </a:solidFill>
                <a:latin typeface="Segoe UI"/>
              </a:rPr>
              <a:t>Un produit prêt, un marché profond et une monétisation Mobile Money immédiate</a:t>
            </a:r>
          </a:p>
        </p:txBody>
      </p:sp>
      <!-- Main Bullet Card -->
      <p:sp>
        <p:nvSpPr>
          <p:cNvPr id="4" name="BulletsCard"/>
          <p:cNvSpPr/>
          <p:nvPr/>
        </p:nvSpPr>
        <p:spPr>
          <a:xfrm>
            <a:off x="500000" y="1850000"/>
            <a:ext cx="7900000" cy="41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0000" rIns="250000" tIns="220000" bIns="220000"/>
          <a:lstStyle/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1. Zéro risque technologique : Application Mobile, Web, Serveur API et Dashboard Admin déjà opérationnels à 98 %.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2. Modèle économique validé : Abonnements de 1 000 et 3 000 FCFA adaptés au marché avec 100 % de marge nette.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3. Scalabilité 2M+ : Base de données indexée et architecture prête pour supporter des millions de connexions.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Allocation des fonds de croissance : 50 % Marketing &amp; Acquisition • 30 % Déploiement commercial • 20 % Cloud &amp; Stores.</a:t>
            </a:r>
          </a:p>
          <a:p>
            <a:pPr marL="285750" indent="-190500" algn="l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fr-FR" sz="1500" dirty="0">
                <a:solidFill>
                  <a:srgbClr val="1E293B"/>
                </a:solidFill>
                <a:latin typeface="Segoe UI"/>
              </a:rPr>
              <a:t>Contact &amp; Démonstration Live : Plateforme accessible dès aujourd'hui sur mobile et sur transfert-online.site.</a:t>
            </a:r>
          </a:p>
        </p:txBody>
      </p:sp>
      <p:sp>
        <p:nvSpPr>
          <p:cNvPr id="20" name="KPI 1"/>
          <p:cNvSpPr/>
          <p:nvPr/>
        </p:nvSpPr>
        <p:spPr>
          <a:xfrm>
            <a:off x="8650000" y="18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50 %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Acquisition &amp; Marketing</a:t>
            </a:r>
          </a:p>
        </p:txBody>
      </p:sp>
      <p:sp>
        <p:nvSpPr>
          <p:cNvPr id="21" name="KPI 2"/>
          <p:cNvSpPr/>
          <p:nvPr/>
        </p:nvSpPr>
        <p:spPr>
          <a:xfrm>
            <a:off x="8650000" y="330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30 %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Déploiement Terrain</a:t>
            </a:r>
          </a:p>
        </p:txBody>
      </p:sp>
      <p:sp>
        <p:nvSpPr>
          <p:cNvPr id="22" name="KPI 3"/>
          <p:cNvSpPr/>
          <p:nvPr/>
        </p:nvSpPr>
        <p:spPr>
          <a:xfrm>
            <a:off x="8650000" y="4750000"/>
            <a:ext cx="3050000" cy="12800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 w="12700">
            <a:solidFill>
              <a:srgbClr val="4F46E5"/>
            </a:solidFill>
          </a:ln>
        </p:spPr>
        <p:txBody>
          <a:bodyPr anchor="ctr" lIns="120000" rIns="120000" tIns="80000" bIns="80000"/>
          <a:lstStyle/>
          <a:p>
            <a:pPr algn="ctr">
              <a:buNone/>
            </a:pPr>
            <a:r>
              <a:rPr lang="fr-FR" sz="2600" b="1" dirty="0">
                <a:solidFill>
                  <a:srgbClr val="FFFFFF"/>
                </a:solidFill>
                <a:latin typeface="Segoe UI"/>
              </a:rPr>
              <a:t>20 %</a:t>
            </a:r>
          </a:p>
          <a:p>
            <a:pPr algn="ctr">
              <a:buNone/>
            </a:pPr>
            <a:r>
              <a:rPr lang="fr-FR" sz="1200" b="1" dirty="0">
                <a:solidFill>
                  <a:srgbClr val="E0E7FF"/>
                </a:solidFill>
                <a:latin typeface="Segoe UI"/>
              </a:rPr>
              <a:t>Infra Cloud &amp; Stores</a:t>
            </a:r>
          </a:p>
        </p:txBody>
      </p:sp>
      <!-- Footer -->
      <p:sp>
        <p:nvSpPr>
          <p:cNvPr id="30" name="Footer"/>
          <p:cNvSpPr/>
          <p:nvPr/>
        </p:nvSpPr>
        <p:spPr>
          <a:xfrm>
            <a:off x="500000" y="6250000"/>
            <a:ext cx="11192000" cy="400000"/>
          </a:xfrm>
          <a:prstGeom prst="rect">
            <a:avLst/>
          </a:prstGeom>
          <a:noFill/>
        </p:spPr>
        <p:txBody>
          <a:bodyPr/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fr-FR" sz="1000" dirty="0">
                <a:solidFill>
                  <a:srgbClr val="64748B"/>
                </a:solidFill>
                <a:latin typeface="Segoe UI"/>
              </a:rPr>
              <a:t>Pitch Deck Investisseur — LoueMoi (PropTech Côte d'Ivoire &amp; UEMOA)  •  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ueMoiTheme">
  <a:themeElements>
    <a:clrScheme name="LoueMoi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4F46E5"/>
      </a:accent1>
      <a:accent2>
        <a:srgbClr val="3730A3"/>
      </a:accent2>
      <a:accent3>
        <a:srgbClr val="6366F1"/>
      </a:accent3>
      <a:accent4>
        <a:srgbClr val="10B981"/>
      </a:accent4>
      <a:accent5>
        <a:srgbClr val="F59E0B"/>
      </a:accent5>
      <a:accent6>
        <a:srgbClr val="EF4444"/>
      </a:accent6>
      <a:hlink>
        <a:srgbClr val="4F46E5"/>
      </a:hlink>
      <a:folHlink>
        <a:srgbClr val="312E81"/>
      </a:folHlink>
    </a:clrScheme>
    <a:fontScheme name="LoueMoi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oueMoi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